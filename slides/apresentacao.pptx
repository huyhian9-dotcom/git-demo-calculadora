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0" b="0">
                <a:solidFill>
                  <a:srgbClr val="E4E4E7"/>
                </a:solidFill>
                <a:latin typeface="Calibri"/>
              </a:rPr>
              <a:t>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471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"/>
              </a:rPr>
              <a:t>Versionamento de Código com Git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749039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0">
                <a:solidFill>
                  <a:srgbClr val="F9A026"/>
                </a:solidFill>
                <a:latin typeface="Calibri"/>
              </a:rPr>
              <a:t>Um bug, uma branch, uma correção.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E4E4E7"/>
                </a:solidFill>
                <a:latin typeface="Calibri"/>
              </a:rPr>
              <a:t>Demo prática: calculadora em Python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F9A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9A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O que é Versionamento?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9A026"/>
                </a:solidFill>
                <a:latin typeface="Calibri"/>
              </a:rPr>
              <a:t>Controle de histórico do código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88899"/>
                </a:solidFill>
                <a:latin typeface="Calibri"/>
              </a:rPr>
              <a:t>Versionamento com Git  •  Slide 2/13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E4E4E7"/>
                </a:solidFill>
                <a:latin typeface="Calibri"/>
              </a:rPr>
              <a:t>•  Registra TODA mudança feita no código ao longo do tempo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E4E4E7"/>
                </a:solidFill>
                <a:latin typeface="Calibri"/>
              </a:rPr>
              <a:t>•  Permite voltar pra qualquer versão anterior (ctrl+z turbinado)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E4E4E7"/>
                </a:solidFill>
                <a:latin typeface="Calibri"/>
              </a:rPr>
              <a:t>•  Vários devs trabalhando no mesmo projeto sem pisar no pé do outro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E4E4E7"/>
                </a:solidFill>
                <a:latin typeface="Calibri"/>
              </a:rPr>
              <a:t>•  Mostra QUEM mudou O QUE e QUANDO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E4E4E7"/>
                </a:solidFill>
                <a:latin typeface="Calibri"/>
              </a:rPr>
              <a:t>•  É a ferramenta mais importante do dia-a-dia do desenvolvedor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9A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Por que Git?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9A026"/>
                </a:solidFill>
                <a:latin typeface="Calibri"/>
              </a:rPr>
              <a:t>O padrão da indústria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88899"/>
                </a:solidFill>
                <a:latin typeface="Calibri"/>
              </a:rPr>
              <a:t>Versionamento com Git  •  Slide 3/13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E4E4E7"/>
                </a:solidFill>
                <a:latin typeface="Calibri"/>
              </a:rPr>
              <a:t>•  ✅ Gratuito, open-source e funciona offline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E4E4E7"/>
                </a:solidFill>
                <a:latin typeface="Calibri"/>
              </a:rPr>
              <a:t>•  ✅ Usado por 95%+ das empresas de tecnologia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E4E4E7"/>
                </a:solidFill>
                <a:latin typeface="Calibri"/>
              </a:rPr>
              <a:t>•  ✅ Integra com GitHub, GitLab, Bitbucket…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E4E4E7"/>
                </a:solidFill>
                <a:latin typeface="Calibri"/>
              </a:rPr>
              <a:t>•  ✅ Branches (ramificações) super baratas e rápidas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E4E4E7"/>
                </a:solidFill>
                <a:latin typeface="Calibri"/>
              </a:rPr>
              <a:t>•  ✅ Histórico imutável — segurança e auditoria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9A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Conceitos Fundamentais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88899"/>
                </a:solidFill>
                <a:latin typeface="Calibri"/>
              </a:rPr>
              <a:t>Versionamento com Git  •  Slide 4/13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E4E4E7"/>
                </a:solidFill>
                <a:latin typeface="Calibri"/>
              </a:rPr>
              <a:t>•  Repositório: pasta versionada pelo Git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E4E4E7"/>
                </a:solidFill>
                <a:latin typeface="Calibri"/>
              </a:rPr>
              <a:t>•  Commit: uma 'foto' das mudanças, com mensagem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E4E4E7"/>
                </a:solidFill>
                <a:latin typeface="Calibri"/>
              </a:rPr>
              <a:t>•  Branch: uma linha de desenvolvimento paralela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E4E4E7"/>
                </a:solidFill>
                <a:latin typeface="Calibri"/>
              </a:rPr>
              <a:t>•  Merge: juntar uma branch com outra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E4E4E7"/>
                </a:solidFill>
                <a:latin typeface="Calibri"/>
              </a:rPr>
              <a:t>•  Pull Request (PR): pedido de revisão antes do merge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E4E4E7"/>
                </a:solidFill>
                <a:latin typeface="Calibri"/>
              </a:rPr>
              <a:t>•  Remote: cópia do repositório no servidor (GitHub)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9A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Comandos Essenciais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9A026"/>
                </a:solidFill>
                <a:latin typeface="Calibri"/>
              </a:rPr>
              <a:t>O mínimo do mínimo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88899"/>
                </a:solidFill>
                <a:latin typeface="Calibri"/>
              </a:rPr>
              <a:t>Versionamento com Git  •  Slide 5/13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10698480" cy="4114800"/>
          </a:xfrm>
          <a:prstGeom prst="roundRect">
            <a:avLst>
              <a:gd name="adj" fmla="val 5000"/>
            </a:avLst>
          </a:prstGeom>
          <a:solidFill>
            <a:srgbClr val="11111B"/>
          </a:solidFill>
          <a:ln w="12700">
            <a:solidFill>
              <a:srgbClr val="F9A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1033272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10D990"/>
                </a:solidFill>
                <a:latin typeface="Consolas"/>
              </a:rPr>
              <a:t>git clone &lt;url&gt;              # baixa um repositório</a:t>
            </a:r>
          </a:p>
          <a:p>
            <a:r>
              <a:rPr sz="1800">
                <a:solidFill>
                  <a:srgbClr val="10D990"/>
                </a:solidFill>
                <a:latin typeface="Consolas"/>
              </a:rPr>
              <a:t>git status                   # o que mudou?</a:t>
            </a:r>
          </a:p>
          <a:p>
            <a:r>
              <a:rPr sz="1800">
                <a:solidFill>
                  <a:srgbClr val="10D990"/>
                </a:solidFill>
                <a:latin typeface="Consolas"/>
              </a:rPr>
              <a:t>git checkout -b nova-branch  # cria e entra na branch</a:t>
            </a:r>
          </a:p>
          <a:p>
            <a:r>
              <a:rPr sz="1800">
                <a:solidFill>
                  <a:srgbClr val="10D990"/>
                </a:solidFill>
                <a:latin typeface="Consolas"/>
              </a:rPr>
              <a:t>git add arquivo.py           # prepara pro commit</a:t>
            </a:r>
          </a:p>
          <a:p>
            <a:r>
              <a:rPr sz="1800">
                <a:solidFill>
                  <a:srgbClr val="10D990"/>
                </a:solidFill>
                <a:latin typeface="Consolas"/>
              </a:rPr>
              <a:t>git commit -m "msg"          # registra o commit</a:t>
            </a:r>
          </a:p>
          <a:p>
            <a:r>
              <a:rPr sz="1800">
                <a:solidFill>
                  <a:srgbClr val="10D990"/>
                </a:solidFill>
                <a:latin typeface="Consolas"/>
              </a:rPr>
              <a:t>git push origin nova-branch  # envia pro GitHub</a:t>
            </a:r>
          </a:p>
          <a:p>
            <a:r>
              <a:rPr sz="1800">
                <a:solidFill>
                  <a:srgbClr val="10D990"/>
                </a:solidFill>
                <a:latin typeface="Consolas"/>
              </a:rPr>
              <a:t>git pull                     # baixa atualizações</a:t>
            </a:r>
          </a:p>
          <a:p>
            <a:r>
              <a:rPr sz="1800">
                <a:solidFill>
                  <a:srgbClr val="10D990"/>
                </a:solidFill>
                <a:latin typeface="Consolas"/>
              </a:rPr>
              <a:t>git log --oneline            # histórico resumido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9A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🧪 Demo Prática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9A026"/>
                </a:solidFill>
                <a:latin typeface="Calibri"/>
              </a:rPr>
              <a:t>Calculadora React com um bug simples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88899"/>
                </a:solidFill>
                <a:latin typeface="Calibri"/>
              </a:rPr>
              <a:t>Versionamento com Git  •  Slide 6/13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E4E4E7"/>
                </a:solidFill>
                <a:latin typeface="Calibri"/>
              </a:rPr>
              <a:t>Quando a página carrega, o logo no topo aparece QUEBRADO.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EF4444"/>
                </a:solidFill>
                <a:latin typeface="Calibri"/>
              </a:rPr>
              <a:t>…o arquivo que o HTML tenta carregar não existe (404).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>
                <a:solidFill>
                  <a:srgbClr val="E4E4E7"/>
                </a:solidFill>
                <a:latin typeface="Calibri"/>
              </a:rPr>
              <a:t>•  Repositório: github.com/huyhian9-dotcom/git-demo-calculadora</a:t>
            </a:r>
          </a:p>
          <a:p>
            <a:pPr algn="l">
              <a:spcAft>
                <a:spcPts val="800"/>
              </a:spcAft>
            </a:pPr>
            <a:r>
              <a:rPr sz="1900">
                <a:solidFill>
                  <a:srgbClr val="E4E4E7"/>
                </a:solidFill>
                <a:latin typeface="Calibri"/>
              </a:rPr>
              <a:t>•  Pré-requisitos: Node.js 18+ e Git instalados</a:t>
            </a:r>
          </a:p>
          <a:p>
            <a:pPr algn="l">
              <a:spcAft>
                <a:spcPts val="800"/>
              </a:spcAft>
            </a:pPr>
            <a:r>
              <a:rPr sz="1900">
                <a:solidFill>
                  <a:srgbClr val="E4E4E7"/>
                </a:solidFill>
                <a:latin typeface="Calibri"/>
              </a:rPr>
              <a:t>•  Você vai investigar pelo DevTools (F12) → aba Network</a:t>
            </a:r>
          </a:p>
          <a:p>
            <a:pPr algn="l">
              <a:spcAft>
                <a:spcPts val="800"/>
              </a:spcAft>
            </a:pPr>
            <a:r>
              <a:rPr sz="1900">
                <a:solidFill>
                  <a:srgbClr val="E4E4E7"/>
                </a:solidFill>
                <a:latin typeface="Calibri"/>
              </a:rPr>
              <a:t>•  Correção: um único caractere!  Sério.</a:t>
            </a:r>
          </a:p>
          <a:p>
            <a:pPr algn="l">
              <a:spcAft>
                <a:spcPts val="800"/>
              </a:spcAft>
            </a:pPr>
            <a:r>
              <a:rPr sz="1900">
                <a:solidFill>
                  <a:srgbClr val="E4E4E7"/>
                </a:solidFill>
                <a:latin typeface="Calibri"/>
              </a:rPr>
              <a:t>•  Ao final, cada um vai ter enviado um Pull Request 🎯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9A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Passo 1 — Clonar e rodar a aplicação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88899"/>
                </a:solidFill>
                <a:latin typeface="Calibri"/>
              </a:rPr>
              <a:t>Versionamento com Git  •  Slide 7/13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10698480" cy="2377440"/>
          </a:xfrm>
          <a:prstGeom prst="roundRect">
            <a:avLst>
              <a:gd name="adj" fmla="val 5000"/>
            </a:avLst>
          </a:prstGeom>
          <a:solidFill>
            <a:srgbClr val="11111B"/>
          </a:solidFill>
          <a:ln w="12700">
            <a:solidFill>
              <a:srgbClr val="F9A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103327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>
                <a:solidFill>
                  <a:srgbClr val="10D990"/>
                </a:solidFill>
                <a:latin typeface="Consolas"/>
              </a:rPr>
              <a:t>git clone https://github.com/huyhian9-dotcom/git-demo-calculadora.git</a:t>
            </a:r>
          </a:p>
          <a:p>
            <a:r>
              <a:rPr sz="1700">
                <a:solidFill>
                  <a:srgbClr val="10D990"/>
                </a:solidFill>
                <a:latin typeface="Consolas"/>
              </a:rPr>
              <a:t>cd git-demo-calculadora</a:t>
            </a:r>
          </a:p>
          <a:p>
            <a:r>
              <a:rPr sz="1700">
                <a:solidFill>
                  <a:srgbClr val="10D990"/>
                </a:solidFill>
                <a:latin typeface="Consolas"/>
              </a:rPr>
              <a:t> </a:t>
            </a:r>
          </a:p>
          <a:p>
            <a:r>
              <a:rPr sz="1700">
                <a:solidFill>
                  <a:srgbClr val="10D990"/>
                </a:solidFill>
                <a:latin typeface="Consolas"/>
              </a:rPr>
              <a:t>npm install      # instala React, Vite e afins</a:t>
            </a:r>
          </a:p>
          <a:p>
            <a:r>
              <a:rPr sz="1700">
                <a:solidFill>
                  <a:srgbClr val="10D990"/>
                </a:solidFill>
                <a:latin typeface="Consolas"/>
              </a:rPr>
              <a:t>npm run dev      # abre em http://localhost:5173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F9A026"/>
                </a:solidFill>
                <a:latin typeface="Calibri"/>
              </a:rPr>
              <a:t>A calculadora abre no navegador — o logo no topo aparece QUEBRADO.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9A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Passo 2 — Abrir o DevTools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9A026"/>
                </a:solidFill>
                <a:latin typeface="Calibri"/>
              </a:rPr>
              <a:t>Como devs, investigamos bugs pelas ferramentas do navegador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88899"/>
                </a:solidFill>
                <a:latin typeface="Calibri"/>
              </a:rPr>
              <a:t>Versionamento com Git  •  Slide 8/13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>
                <a:solidFill>
                  <a:srgbClr val="E4E4E7"/>
                </a:solidFill>
                <a:latin typeface="Calibri"/>
              </a:rPr>
              <a:t>•  No navegador, pressione  F12  (ou Ctrl+Shift+I)</a:t>
            </a:r>
          </a:p>
          <a:p>
            <a:pPr algn="l">
              <a:spcAft>
                <a:spcPts val="800"/>
              </a:spcAft>
            </a:pPr>
            <a:r>
              <a:rPr sz="1900">
                <a:solidFill>
                  <a:srgbClr val="E4E4E7"/>
                </a:solidFill>
                <a:latin typeface="Calibri"/>
              </a:rPr>
              <a:t>•  Vá até a aba  Network</a:t>
            </a:r>
          </a:p>
          <a:p>
            <a:pPr algn="l">
              <a:spcAft>
                <a:spcPts val="800"/>
              </a:spcAft>
            </a:pPr>
            <a:r>
              <a:rPr sz="1900">
                <a:solidFill>
                  <a:srgbClr val="E4E4E7"/>
                </a:solidFill>
                <a:latin typeface="Calibri"/>
              </a:rPr>
              <a:t>•  Dê um refresh na página (F5)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A026"/>
                </a:solidFill>
                <a:latin typeface="Calibri"/>
              </a:rPr>
              <a:t>Você verá uma requisição em VERMELHO: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297680"/>
            <a:ext cx="10698480" cy="914400"/>
          </a:xfrm>
          <a:prstGeom prst="roundRect">
            <a:avLst>
              <a:gd name="adj" fmla="val 5000"/>
            </a:avLst>
          </a:prstGeom>
          <a:solidFill>
            <a:srgbClr val="11111B"/>
          </a:solidFill>
          <a:ln w="12700">
            <a:solidFill>
              <a:srgbClr val="F9A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43484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>
                <a:solidFill>
                  <a:srgbClr val="EF4444"/>
                </a:solidFill>
                <a:latin typeface="Consolas"/>
              </a:rPr>
              <a:t>GET   /logoo.svg     404 Not Found  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3949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E4E4E7"/>
                </a:solidFill>
                <a:latin typeface="Calibri"/>
              </a:rPr>
              <a:t>Percebeu o  "logoo"  com dois 'o'?  Esse é o bug.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9A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Passo 3 — Criar uma branch de correção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9A026"/>
                </a:solidFill>
                <a:latin typeface="Calibri"/>
              </a:rPr>
              <a:t>Regra de ouro: nunca mexa direto na 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88899"/>
                </a:solidFill>
                <a:latin typeface="Calibri"/>
              </a:rPr>
              <a:t>Versionamento com Git  •  Slide 9/13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10698480" cy="1005840"/>
          </a:xfrm>
          <a:prstGeom prst="roundRect">
            <a:avLst>
              <a:gd name="adj" fmla="val 5000"/>
            </a:avLst>
          </a:prstGeom>
          <a:solidFill>
            <a:srgbClr val="11111B"/>
          </a:solidFill>
          <a:ln w="12700">
            <a:solidFill>
              <a:srgbClr val="F9A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48840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>
                <a:solidFill>
                  <a:srgbClr val="10D990"/>
                </a:solidFill>
                <a:latin typeface="Consolas"/>
              </a:rPr>
              <a:t>git checkout -b fix/logo-path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9A026"/>
                </a:solidFill>
                <a:latin typeface="Calibri"/>
              </a:rPr>
              <a:t>O que aconteceu?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93192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E4E4E7"/>
                </a:solidFill>
                <a:latin typeface="Calibri"/>
              </a:rPr>
              <a:t>•  Criou uma nova branch chamada fix/logo-path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4E4E7"/>
                </a:solidFill>
                <a:latin typeface="Calibri"/>
              </a:rPr>
              <a:t>•  Trocou automaticamente pra ela (o -b faz isso)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4E4E7"/>
                </a:solidFill>
                <a:latin typeface="Calibri"/>
              </a:rPr>
              <a:t>•  Agora qualquer mudança fica isolada, sem afetar a main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9A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Passo 4 — Corrigir o caminho do logo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9A026"/>
                </a:solidFill>
                <a:latin typeface="Calibri"/>
              </a:rPr>
              <a:t>Arquivo: src/App.jsx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88899"/>
                </a:solidFill>
                <a:latin typeface="Calibri"/>
              </a:rPr>
              <a:t>Versionamento com Git  •  Slide 10/13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F4444"/>
                </a:solidFill>
                <a:latin typeface="Calibri"/>
              </a:rPr>
              <a:t>ANTES (com bug):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94560"/>
            <a:ext cx="5303520" cy="1371600"/>
          </a:xfrm>
          <a:prstGeom prst="roundRect">
            <a:avLst>
              <a:gd name="adj" fmla="val 5000"/>
            </a:avLst>
          </a:prstGeom>
          <a:solidFill>
            <a:srgbClr val="11111B"/>
          </a:solidFill>
          <a:ln w="12700">
            <a:solidFill>
              <a:srgbClr val="F9A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EF4444"/>
                </a:solidFill>
                <a:latin typeface="Consolas"/>
              </a:rPr>
              <a:t>&lt;img src="/logoo.svg"</a:t>
            </a:r>
          </a:p>
          <a:p>
            <a:r>
              <a:rPr sz="1500">
                <a:solidFill>
                  <a:srgbClr val="10D990"/>
                </a:solidFill>
                <a:latin typeface="Consolas"/>
              </a:rPr>
              <a:t>     alt="Git Demo" 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373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0D990"/>
                </a:solidFill>
                <a:latin typeface="Calibri"/>
              </a:rPr>
              <a:t>DEPOIS (corrigido):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194560"/>
            <a:ext cx="5303520" cy="1371600"/>
          </a:xfrm>
          <a:prstGeom prst="roundRect">
            <a:avLst>
              <a:gd name="adj" fmla="val 5000"/>
            </a:avLst>
          </a:prstGeom>
          <a:solidFill>
            <a:srgbClr val="11111B"/>
          </a:solidFill>
          <a:ln w="12700">
            <a:solidFill>
              <a:srgbClr val="F9A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33172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10D990"/>
                </a:solidFill>
                <a:latin typeface="Consolas"/>
              </a:rPr>
              <a:t>&lt;img src="/logo.svg"</a:t>
            </a:r>
          </a:p>
          <a:p>
            <a:r>
              <a:rPr sz="1500">
                <a:solidFill>
                  <a:srgbClr val="10D990"/>
                </a:solidFill>
                <a:latin typeface="Consolas"/>
              </a:rPr>
              <a:t>     alt="Git Demo" /&gt;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9A026"/>
                </a:solidFill>
                <a:latin typeface="Calibri"/>
              </a:rPr>
              <a:t>Removeu UM caractere.  Salve e dê refresh no navegador: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754880"/>
            <a:ext cx="10698480" cy="914400"/>
          </a:xfrm>
          <a:prstGeom prst="roundRect">
            <a:avLst>
              <a:gd name="adj" fmla="val 5000"/>
            </a:avLst>
          </a:prstGeom>
          <a:solidFill>
            <a:srgbClr val="11111B"/>
          </a:solidFill>
          <a:ln w="12700">
            <a:solidFill>
              <a:srgbClr val="F9A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89204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>
                <a:solidFill>
                  <a:srgbClr val="10D990"/>
                </a:solidFill>
                <a:latin typeface="Consolas"/>
              </a:rPr>
              <a:t>GET   /logo.svg     200 OK  ✅   (e o logo aparece!)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9A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Passo 5 — Registrar a correção (commit)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88899"/>
                </a:solidFill>
                <a:latin typeface="Calibri"/>
              </a:rPr>
              <a:t>Versionamento com Git  •  Slide 11/13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2011680"/>
          </a:xfrm>
          <a:prstGeom prst="roundRect">
            <a:avLst>
              <a:gd name="adj" fmla="val 5000"/>
            </a:avLst>
          </a:prstGeom>
          <a:solidFill>
            <a:srgbClr val="11111B"/>
          </a:solidFill>
          <a:ln w="12700">
            <a:solidFill>
              <a:srgbClr val="F9A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>
                <a:solidFill>
                  <a:srgbClr val="10D990"/>
                </a:solidFill>
                <a:latin typeface="Consolas"/>
              </a:rPr>
              <a:t>git status</a:t>
            </a:r>
          </a:p>
          <a:p>
            <a:r>
              <a:rPr sz="1600">
                <a:solidFill>
                  <a:srgbClr val="10D990"/>
                </a:solidFill>
                <a:latin typeface="Consolas"/>
              </a:rPr>
              <a:t>git add src/App.jsx</a:t>
            </a:r>
          </a:p>
          <a:p>
            <a:r>
              <a:rPr sz="1600">
                <a:solidFill>
                  <a:srgbClr val="10D990"/>
                </a:solidFill>
                <a:latin typeface="Consolas"/>
              </a:rPr>
              <a:t>git commit -m "fix: corrige caminho do logo que retornava 404"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A026"/>
                </a:solidFill>
                <a:latin typeface="Calibri"/>
              </a:rPr>
              <a:t>Dica de mensagem de commit: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548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E4E4E7"/>
                </a:solidFill>
                <a:latin typeface="Calibri"/>
              </a:rPr>
              <a:t>•  fix: corrige bug que estava quebrando X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E4E4E7"/>
                </a:solidFill>
                <a:latin typeface="Calibri"/>
              </a:rPr>
              <a:t>•  feat: adiciona funcionalidade Y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E4E4E7"/>
                </a:solidFill>
                <a:latin typeface="Calibri"/>
              </a:rPr>
              <a:t>•  docs: atualiza README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E4E4E7"/>
                </a:solidFill>
                <a:latin typeface="Calibri"/>
              </a:rPr>
              <a:t>•  refactor: reorganiza estrutura do arquivo Z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9A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Passo 6 — Push + Pull Request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88899"/>
                </a:solidFill>
                <a:latin typeface="Calibri"/>
              </a:rPr>
              <a:t>Versionamento com Git  •  Slide 12/13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1005840"/>
          </a:xfrm>
          <a:prstGeom prst="roundRect">
            <a:avLst>
              <a:gd name="adj" fmla="val 5000"/>
            </a:avLst>
          </a:prstGeom>
          <a:solidFill>
            <a:srgbClr val="11111B"/>
          </a:solidFill>
          <a:ln w="12700">
            <a:solidFill>
              <a:srgbClr val="F9A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>
                <a:solidFill>
                  <a:srgbClr val="10D990"/>
                </a:solidFill>
                <a:latin typeface="Consolas"/>
              </a:rPr>
              <a:t>git push origin fix/logo-path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A026"/>
                </a:solidFill>
                <a:latin typeface="Calibri"/>
              </a:rPr>
              <a:t>Depois, no GitHub: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E4E4E7"/>
                </a:solidFill>
                <a:latin typeface="Calibri"/>
              </a:rPr>
              <a:t>•  Aparecerá o botão 'Compare &amp; pull request' — clique nele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4E4E7"/>
                </a:solidFill>
                <a:latin typeface="Calibri"/>
              </a:rPr>
              <a:t>•  Escreva um título claro e descreva o que você corrigiu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4E4E7"/>
                </a:solidFill>
                <a:latin typeface="Calibri"/>
              </a:rPr>
              <a:t>•  Clique em 'Create pull request'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4E4E7"/>
                </a:solidFill>
                <a:latin typeface="Calibri"/>
              </a:rPr>
              <a:t>•  Peça pro colega revisar — é assim que funciona no mundo real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E4E4E7"/>
                </a:solidFill>
                <a:latin typeface="Calibri"/>
              </a:rPr>
              <a:t>•  Após aprovação: 'Merge pull request' leva a correção pra main 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9A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F9A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0" b="0">
                <a:solidFill>
                  <a:srgbClr val="E4E4E7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Você aprendeu o fluxo completo!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6616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0">
                <a:solidFill>
                  <a:srgbClr val="F9A026"/>
                </a:solidFill>
                <a:latin typeface="Consolas"/>
              </a:rPr>
              <a:t>clone  →  branch  →  fix  →  commit  →  push  →  PR  →  merge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488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E4E4E7"/>
                </a:solidFill>
                <a:latin typeface="Calibri"/>
              </a:rPr>
              <a:t>Perguntas?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888899"/>
                </a:solidFill>
                <a:latin typeface="Consolas"/>
              </a:rPr>
              <a:t>github.com/huyhian9-dotcom/git-demo-calculadora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